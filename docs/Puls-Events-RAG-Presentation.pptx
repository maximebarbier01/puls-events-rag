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40000"/>
            <a:ext cx="1075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Puls-Events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168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D3E0"/>
                </a:solidFill>
                <a:latin typeface="Calibri"/>
              </a:rPr>
              <a:t>Assistant intelligent de recommandation d'événements culturels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816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7D8C"/>
                </a:solidFill>
                <a:latin typeface="Calibri"/>
              </a:rPr>
              <a:t>POC — LangChain · FAISS · Mistral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94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7BD"/>
                </a:solidFill>
                <a:latin typeface="Calibri"/>
              </a:rPr>
              <a:t>Maxime Barbier — Parcours OpenClassrooms « Concevez et déployez un système RAG 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Puls-Events : plateforme de recommandations culturelles personnalisées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Besoin métier : répondre en langage naturel aux questions des utilisateurs sur les événements à venir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Problématique : comment un système RAG peut-il combiner recherche sémantique et génération de réponse pour rendre cette recommandation naturelle et fiable 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Mission confiée par Jérémy, responsable technique Puls-Events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Objectifs du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Démontrer la faisabilité technique : LangChain + FAISS + Mistral, bout en bout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Démontrer la valeur métier : réponses pertinentes, fiables, sans hallucination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Démontrer la performance : API testable en local, résultats mesurés objectivement (Ragas)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Périmètre : événements culturels en Moselle, sur une fenêtre d'un an d'historique + tout l'avenir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Architecture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8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 Agenda</a:t>
            </a:r>
            <a:br/>
            <a:r>
              <a:t>(API)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0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Nettoyage &amp;</a:t>
            </a:r>
            <a:br/>
            <a:r>
              <a:t>filtrage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2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Chunking &amp;</a:t>
            </a:r>
            <a:br/>
            <a:r>
              <a:t>embeddings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600" y="3060000"/>
            <a:ext cx="1404000" cy="936000"/>
          </a:xfrm>
          <a:prstGeom prst="round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Index</a:t>
            </a:r>
            <a:br/>
            <a:r>
              <a:t>FAISS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6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LangChain</a:t>
            </a:r>
            <a:br/>
            <a:r>
              <a:t>(retrieval)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Mistral</a:t>
            </a:r>
            <a:br/>
            <a:r>
              <a:t>(génération)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0600" y="3060000"/>
            <a:ext cx="1404000" cy="93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API REST</a:t>
            </a:r>
            <a:br/>
            <a:r>
              <a:t>(FastAPI)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2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94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96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98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00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02600" y="352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3999" y="4392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Pipeline scripté de bout en bout (scripts/00 à 04), reproductible à la demande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Séparation stricte logique métier (app/) / points d'entrée (scripts/, API)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Endpoint /rebuild : ré-indexation à la demande sans redémarrer le serveur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Périmètre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600" y="180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7D8C"/>
                </a:solidFill>
                <a:latin typeface="Calibri"/>
              </a:rPr>
              <a:t>9083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600" y="2627999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événements Moselle
(sans filtre)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6600" y="2015999"/>
            <a:ext cx="324000" cy="360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6600" y="180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7D8C"/>
                </a:solidFill>
                <a:latin typeface="Calibri"/>
              </a:rPr>
              <a:t>2829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6600" y="2627999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après filtre géo +
fenêtre 1 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16600" y="2015999"/>
            <a:ext cx="324000" cy="36000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6600" y="1800000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1483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600" y="2627999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événements culturels
propres, indexés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3671999"/>
            <a:ext cx="108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 Zone : département de la Moselle (Grand Est), via l'API Explore d'OpenDataSoft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 Fenêtre temporelle : 1 an d'historique + tous les événements à venir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 Filtre thématique : exclusion explicite des sources non-culturelles (ex : sessions de recrutement France Travail, ~35% du volume brut)</a:t>
            </a:r>
          </a:p>
          <a:p>
            <a:pPr>
              <a:spcAft>
                <a:spcPts val="1200"/>
              </a:spcAft>
              <a:defRPr sz="1700">
                <a:solidFill>
                  <a:srgbClr val="333333"/>
                </a:solidFill>
              </a:defRPr>
            </a:pPr>
            <a:r>
              <a:t>•  Statut : événements annulés exclus, événements complets gardés mais signalés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Pipeline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00 — Récupération via l'API Explore d'OpenDataSoft (paginée, filtrée par département + date)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01 — Nettoyage : suppression HTML, filtre statut/thématique/récence, construction du texte source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02 — Chunking (1000 car. / 150 de chevauchement) + vectorisation + indexation FAISS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Entièrement scripté et reproductible — aucune étape manuelle une fois la clé API configurée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Vectorisation &amp; FAISS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Embeddings : sentence-transformers/paraphrase-multilingual-MiniLM-L12-v2 (local, HuggingFace)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Choix motivé : gratuit, pas de clé API nécessaire pour indexer/reconstruire, adapté au français, reproductible sans quota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1483 événements → 1920 chunks indexés (index FAISS plat, exact, adapté à ce volume)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Métadonnées conservées par chunk : dates, lieu, coordonnées, URL source, statut complet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La chaîne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Retrieval : top-k (k=5) événements les plus proches sémantiquement de la question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Prompt système strict : répondre uniquement à partir du contexte fourni, refuser explicitement si rien ne correspond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Génération : Mistral (mistral-small-latest) — rapide, peu coûteux, suffisant pour reformuler des infos d'événements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Pas d'historique de conversation (hors périmètre du POC, conformément au sujet)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L'API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LA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FastAPI — documentation Swagger interactive générée automatiquement (/docs)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POST /ask — pose une question, reçoit une réponse augmentée + les sources utilisées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POST /rebuild — reconstruit l'index à la demande, protégé par un jeton (header X-Rebuild-Token)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Modèle et index chargés une seule fois au démarrage (pas de rechargement à chaque appel)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Logique métier (app/) totalement découplée du code API (app/api/)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0"/>
            <a:ext cx="1075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Démonstration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96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D3E0"/>
                </a:solidFill>
                <a:latin typeface="Calibri"/>
              </a:rPr>
              <a:t>Question posée → réponse générée, en direct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Évaluation — 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LES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Jeu de test annoté : 12 questions avec réponses de référence (eval/qa_dataset.json)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Inclut des cas pièges volontaires : questions hors périmètre géographique/thématique, pour vérifier le refus d'halluciner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4 métriques Ragas : Faithfulness, Answer Relevancy, Context Precision, Context Recall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Jugement assuré par notre propre modèle Mistral (pas OpenAI) — cohérence de la stack technique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Évaluation —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LES RÉSULTATS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80000" y="1440000"/>
          <a:ext cx="100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0"/>
                <a:gridCol w="2880000"/>
                <a:gridCol w="2880000"/>
              </a:tblGrid>
              <a:tr h="576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Score global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Hors questions pièges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Answer relevancy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0.548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0.822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Context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Context recall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0.872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3999" y="4680000"/>
            <a:ext cx="10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 Answer relevancy chute sur les questions pièges : le système refuse correctement, mais la métrique compare par similarité sémantique une réponse de refus courte à la question — limite connue de la métrique, pas un défaut du système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 Point faible identifié : context precision (~0.66) — piste d'amélioration à l'étape suivante (ajustement de k, reranking)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Conteneurisation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PRÊT POUR ALLER PLUS LOIN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Image légère : build multi-stage Poetry, utilisateur non-root, code + dépendances uniquement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Données et index montés en volumes (jamais figés dans l'image) — toujours à jour, /rebuild fonctionnel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Secrets jamais copiés dans l'image (injectés au runtime via .env)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Une commande pour démarrer : docker compose up --build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CI GitHub Actions : tests automatiques sur chaque Pull Request, évaluation Ragas sur chaque merge vers main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Limites &amp; perspectives d'amélioration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8C"/>
                </a:solidFill>
                <a:latin typeface="Calibri"/>
              </a:rPr>
              <a:t>PRÊT POUR ALLER PLUS LOIN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044000"/>
            <a:ext cx="2160000" cy="38100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296000"/>
            <a:ext cx="1080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Pas de filtrage temporel réel : "ce week-end"/"demain" reposent sur la similarité sémantique, pas sur une vraie date — à corriger par extraction de plage de dates + filtre sur les métadonnées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Context precision perfectible : tester différentes valeurs de k, envisager un reranking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Volumétrie limitée à la Moselle pour le POC — extension géographique possible sans changement d'architecture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 Pas de déploiement cloud à ce stade (hors périmètre du POC) — Docker prouve que le système est prêt pour un déploiement élargi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107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3240000"/>
            <a:ext cx="7873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 POC fonctionnel et testé de bout en bout : données → index → RAG → API → Docker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 Qualité mesurée objectivement (Ragas), pas juste affirmée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 Base solide pour un déploiement élargi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5940000"/>
            <a:ext cx="1075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8C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